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6"/>
  </p:notesMasterIdLst>
  <p:handoutMasterIdLst>
    <p:handoutMasterId r:id="rId7"/>
  </p:handoutMasterIdLst>
  <p:sldIdLst>
    <p:sldId id="338" r:id="rId5"/>
  </p:sldIdLst>
  <p:sldSz cx="12192000" cy="6858000"/>
  <p:notesSz cx="6950075" cy="923607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varScale="1">
        <p:scale>
          <a:sx n="48" d="100"/>
          <a:sy n="48" d="100"/>
        </p:scale>
        <p:origin x="946" y="269"/>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[Campaign_Data_Week1.xlsx]pivot table!PivotTable1</c:name>
    <c:fmtId val="15"/>
  </c:pivotSource>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800" b="1" i="1" u="none" strike="noStrike" cap="all" baseline="0">
                <a:effectLst/>
              </a:rPr>
              <a:t>Email Drove the Most New Customer Sales</a:t>
            </a:r>
            <a:r>
              <a:rPr lang="en-IN"/>
              <a:t>Title</a:t>
            </a:r>
          </a:p>
        </c:rich>
      </c:tx>
      <c:layout>
        <c:manualLayout>
          <c:xMode val="edge"/>
          <c:yMode val="edge"/>
          <c:x val="0.1516259562146885"/>
          <c:y val="5.3286653665282615E-3"/>
        </c:manualLayout>
      </c:layout>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ivotFmts>
      <c:pivotFmt>
        <c:idx val="0"/>
        <c:spPr>
          <a:pattFill prst="narHorz">
            <a:fgClr>
              <a:schemeClr val="accent1"/>
            </a:fgClr>
            <a:bgClr>
              <a:schemeClr val="accent1">
                <a:lumMod val="20000"/>
                <a:lumOff val="80000"/>
              </a:schemeClr>
            </a:bgClr>
          </a:pattFill>
          <a:ln>
            <a:noFill/>
          </a:ln>
          <a:effectLst>
            <a:innerShdw blurRad="114300">
              <a:schemeClr val="accent1"/>
            </a:innerShdw>
          </a:effectLst>
        </c:spPr>
        <c:marker>
          <c:symbol val="circle"/>
          <c:size val="6"/>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pattFill prst="narHorz">
            <a:fgClr>
              <a:schemeClr val="accent1"/>
            </a:fgClr>
            <a:bgClr>
              <a:schemeClr val="accent1">
                <a:lumMod val="20000"/>
                <a:lumOff val="80000"/>
              </a:schemeClr>
            </a:bgClr>
          </a:pattFill>
          <a:ln>
            <a:noFill/>
          </a:ln>
          <a:effectLst>
            <a:innerShdw blurRad="114300">
              <a:schemeClr val="accent1"/>
            </a:innerShdw>
          </a:effectLst>
        </c:spPr>
        <c:marker>
          <c:symbol val="circle"/>
          <c:size val="6"/>
          <c:spPr>
            <a:solidFill>
              <a:schemeClr val="accent2"/>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pattFill prst="narHorz">
            <a:fgClr>
              <a:schemeClr val="accent1"/>
            </a:fgClr>
            <a:bgClr>
              <a:schemeClr val="accent1">
                <a:lumMod val="20000"/>
                <a:lumOff val="80000"/>
              </a:schemeClr>
            </a:bgClr>
          </a:pattFill>
          <a:ln>
            <a:noFill/>
          </a:ln>
          <a:effectLst>
            <a:innerShdw blurRad="114300">
              <a:schemeClr val="accent1"/>
            </a:innerShdw>
          </a:effectLst>
        </c:spPr>
        <c:marker>
          <c:symbol val="circle"/>
          <c:size val="6"/>
          <c:spPr>
            <a:solidFill>
              <a:schemeClr val="accent3"/>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table'!$B$3:$B$4</c:f>
              <c:strCache>
                <c:ptCount val="1"/>
                <c:pt idx="0">
                  <c:v>Email</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cat>
            <c:strRef>
              <c:f>'pivot table'!$A$5:$A$7</c:f>
              <c:strCache>
                <c:ptCount val="2"/>
                <c:pt idx="0">
                  <c:v>A</c:v>
                </c:pt>
                <c:pt idx="1">
                  <c:v>B</c:v>
                </c:pt>
              </c:strCache>
            </c:strRef>
          </c:cat>
          <c:val>
            <c:numRef>
              <c:f>'pivot table'!$B$5:$B$7</c:f>
              <c:numCache>
                <c:formatCode>0</c:formatCode>
                <c:ptCount val="2"/>
                <c:pt idx="0">
                  <c:v>2952.37</c:v>
                </c:pt>
                <c:pt idx="1">
                  <c:v>4956.9399999999996</c:v>
                </c:pt>
              </c:numCache>
            </c:numRef>
          </c:val>
          <c:extLst>
            <c:ext xmlns:c16="http://schemas.microsoft.com/office/drawing/2014/chart" uri="{C3380CC4-5D6E-409C-BE32-E72D297353CC}">
              <c16:uniqueId val="{00000000-0B88-4776-8F54-42D31050DDEA}"/>
            </c:ext>
          </c:extLst>
        </c:ser>
        <c:ser>
          <c:idx val="1"/>
          <c:order val="1"/>
          <c:tx>
            <c:strRef>
              <c:f>'pivot table'!$C$3:$C$4</c:f>
              <c:strCache>
                <c:ptCount val="1"/>
                <c:pt idx="0">
                  <c:v>Instagram</c:v>
                </c:pt>
              </c:strCache>
            </c:strRef>
          </c:tx>
          <c:spPr>
            <a:pattFill prst="narHorz">
              <a:fgClr>
                <a:schemeClr val="accent2"/>
              </a:fgClr>
              <a:bgClr>
                <a:schemeClr val="accent2">
                  <a:lumMod val="20000"/>
                  <a:lumOff val="80000"/>
                </a:schemeClr>
              </a:bgClr>
            </a:pattFill>
            <a:ln>
              <a:noFill/>
            </a:ln>
            <a:effectLst>
              <a:innerShdw blurRad="114300">
                <a:schemeClr val="accent2"/>
              </a:innerShdw>
            </a:effectLst>
          </c:spPr>
          <c:invertIfNegative val="0"/>
          <c:cat>
            <c:strRef>
              <c:f>'pivot table'!$A$5:$A$7</c:f>
              <c:strCache>
                <c:ptCount val="2"/>
                <c:pt idx="0">
                  <c:v>A</c:v>
                </c:pt>
                <c:pt idx="1">
                  <c:v>B</c:v>
                </c:pt>
              </c:strCache>
            </c:strRef>
          </c:cat>
          <c:val>
            <c:numRef>
              <c:f>'pivot table'!$C$5:$C$7</c:f>
              <c:numCache>
                <c:formatCode>0</c:formatCode>
                <c:ptCount val="2"/>
                <c:pt idx="0">
                  <c:v>2162.9000000000005</c:v>
                </c:pt>
                <c:pt idx="1">
                  <c:v>1710.5100000000004</c:v>
                </c:pt>
              </c:numCache>
            </c:numRef>
          </c:val>
          <c:extLst>
            <c:ext xmlns:c16="http://schemas.microsoft.com/office/drawing/2014/chart" uri="{C3380CC4-5D6E-409C-BE32-E72D297353CC}">
              <c16:uniqueId val="{00000001-0B88-4776-8F54-42D31050DDEA}"/>
            </c:ext>
          </c:extLst>
        </c:ser>
        <c:ser>
          <c:idx val="2"/>
          <c:order val="2"/>
          <c:tx>
            <c:strRef>
              <c:f>'pivot table'!$D$3:$D$4</c:f>
              <c:strCache>
                <c:ptCount val="1"/>
                <c:pt idx="0">
                  <c:v>Web Banner</c:v>
                </c:pt>
              </c:strCache>
            </c:strRef>
          </c:tx>
          <c:spPr>
            <a:pattFill prst="narHorz">
              <a:fgClr>
                <a:schemeClr val="accent3"/>
              </a:fgClr>
              <a:bgClr>
                <a:schemeClr val="accent3">
                  <a:lumMod val="20000"/>
                  <a:lumOff val="80000"/>
                </a:schemeClr>
              </a:bgClr>
            </a:pattFill>
            <a:ln>
              <a:noFill/>
            </a:ln>
            <a:effectLst>
              <a:innerShdw blurRad="114300">
                <a:schemeClr val="accent3"/>
              </a:innerShdw>
            </a:effectLst>
          </c:spPr>
          <c:invertIfNegative val="0"/>
          <c:cat>
            <c:strRef>
              <c:f>'pivot table'!$A$5:$A$7</c:f>
              <c:strCache>
                <c:ptCount val="2"/>
                <c:pt idx="0">
                  <c:v>A</c:v>
                </c:pt>
                <c:pt idx="1">
                  <c:v>B</c:v>
                </c:pt>
              </c:strCache>
            </c:strRef>
          </c:cat>
          <c:val>
            <c:numRef>
              <c:f>'pivot table'!$D$5:$D$7</c:f>
              <c:numCache>
                <c:formatCode>0</c:formatCode>
                <c:ptCount val="2"/>
                <c:pt idx="0">
                  <c:v>754.29</c:v>
                </c:pt>
                <c:pt idx="1">
                  <c:v>2122.5899999999997</c:v>
                </c:pt>
              </c:numCache>
            </c:numRef>
          </c:val>
          <c:extLst>
            <c:ext xmlns:c16="http://schemas.microsoft.com/office/drawing/2014/chart" uri="{C3380CC4-5D6E-409C-BE32-E72D297353CC}">
              <c16:uniqueId val="{00000002-0B88-4776-8F54-42D31050DDEA}"/>
            </c:ext>
          </c:extLst>
        </c:ser>
        <c:dLbls>
          <c:showLegendKey val="0"/>
          <c:showVal val="0"/>
          <c:showCatName val="0"/>
          <c:showSerName val="0"/>
          <c:showPercent val="0"/>
          <c:showBubbleSize val="0"/>
        </c:dLbls>
        <c:gapWidth val="164"/>
        <c:overlap val="-22"/>
        <c:axId val="1673252623"/>
        <c:axId val="1673254063"/>
      </c:barChart>
      <c:catAx>
        <c:axId val="1673252623"/>
        <c:scaling>
          <c:orientation val="minMax"/>
        </c:scaling>
        <c:delete val="0"/>
        <c:axPos val="b"/>
        <c:numFmt formatCode="General" sourceLinked="1"/>
        <c:majorTickMark val="out"/>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73254063"/>
        <c:crosses val="autoZero"/>
        <c:auto val="1"/>
        <c:lblAlgn val="ctr"/>
        <c:lblOffset val="100"/>
        <c:noMultiLvlLbl val="0"/>
      </c:catAx>
      <c:valAx>
        <c:axId val="1673254063"/>
        <c:scaling>
          <c:orientation val="minMax"/>
        </c:scaling>
        <c:delete val="0"/>
        <c:axPos val="l"/>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7325262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[Campaign_Data_Week1.xlsx]pivot table!PivotTable1</c:name>
    <c:fmtId val="22"/>
  </c:pivotSource>
  <c:chart>
    <c:autoTitleDeleted val="1"/>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4"/>
        <c:spPr>
          <a:solidFill>
            <a:schemeClr val="accent1"/>
          </a:solidFill>
          <a:ln w="19050">
            <a:solidFill>
              <a:schemeClr val="lt1"/>
            </a:solidFill>
          </a:ln>
          <a:effectLst/>
        </c:spPr>
        <c:marker>
          <c:symbol val="none"/>
        </c:marker>
      </c:pivotFmt>
      <c:pivotFmt>
        <c:idx val="5"/>
        <c:spPr>
          <a:solidFill>
            <a:schemeClr val="accent1"/>
          </a:solidFill>
          <a:ln w="19050">
            <a:solidFill>
              <a:schemeClr val="lt1"/>
            </a:solidFill>
          </a:ln>
          <a:effectLst/>
        </c:spPr>
        <c:marker>
          <c:symbol val="none"/>
        </c:marker>
      </c:pivotFmt>
      <c:pivotFmt>
        <c:idx val="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pivotFmt>
      <c:pivotFmt>
        <c:idx val="1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pivotFmt>
      <c:pivotFmt>
        <c:idx val="2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w="19050">
            <a:solidFill>
              <a:schemeClr val="lt1"/>
            </a:solidFill>
          </a:ln>
          <a:effectLst/>
        </c:spPr>
      </c:pivotFmt>
      <c:pivotFmt>
        <c:idx val="23"/>
        <c:spPr>
          <a:solidFill>
            <a:schemeClr val="accent1"/>
          </a:solidFill>
          <a:ln w="19050">
            <a:solidFill>
              <a:schemeClr val="lt1"/>
            </a:solidFill>
          </a:ln>
          <a:effectLst/>
        </c:spPr>
      </c:pivotFmt>
      <c:pivotFmt>
        <c:idx val="2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w="19050">
            <a:solidFill>
              <a:schemeClr val="lt1"/>
            </a:solidFill>
          </a:ln>
          <a:effectLst/>
        </c:spPr>
      </c:pivotFmt>
      <c:pivotFmt>
        <c:idx val="26"/>
        <c:spPr>
          <a:solidFill>
            <a:schemeClr val="accent1"/>
          </a:solidFill>
          <a:ln w="19050">
            <a:solidFill>
              <a:schemeClr val="lt1"/>
            </a:solidFill>
          </a:ln>
          <a:effectLst/>
        </c:spPr>
      </c:pivotFmt>
      <c:pivotFmt>
        <c:idx val="2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solidFill>
            <a:schemeClr val="accent1"/>
          </a:solidFill>
          <a:ln w="19050">
            <a:solidFill>
              <a:schemeClr val="lt1"/>
            </a:solidFill>
          </a:ln>
          <a:effectLst/>
        </c:spPr>
      </c:pivotFmt>
      <c:pivotFmt>
        <c:idx val="29"/>
        <c:spPr>
          <a:solidFill>
            <a:schemeClr val="accent1"/>
          </a:solidFill>
          <a:ln w="19050">
            <a:solidFill>
              <a:schemeClr val="lt1"/>
            </a:solidFill>
          </a:ln>
          <a:effectLst/>
        </c:spPr>
      </c:pivotFmt>
    </c:pivotFmts>
    <c:plotArea>
      <c:layout/>
      <c:pieChart>
        <c:varyColors val="1"/>
        <c:ser>
          <c:idx val="0"/>
          <c:order val="0"/>
          <c:tx>
            <c:strRef>
              <c:f>'pivot table'!$B$3:$B$4</c:f>
              <c:strCache>
                <c:ptCount val="1"/>
                <c:pt idx="0">
                  <c:v>Email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D5B5-464E-B30D-9FFB09E9D4A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D5B5-464E-B30D-9FFB09E9D4A2}"/>
              </c:ext>
            </c:extLst>
          </c:dPt>
          <c:cat>
            <c:strRef>
              <c:f>'pivot table'!$A$5:$A$7</c:f>
              <c:strCache>
                <c:ptCount val="2"/>
                <c:pt idx="0">
                  <c:v>A</c:v>
                </c:pt>
                <c:pt idx="1">
                  <c:v>B</c:v>
                </c:pt>
              </c:strCache>
            </c:strRef>
          </c:cat>
          <c:val>
            <c:numRef>
              <c:f>'pivot table'!$B$5:$B$7</c:f>
              <c:numCache>
                <c:formatCode>0</c:formatCode>
                <c:ptCount val="2"/>
                <c:pt idx="0">
                  <c:v>2952.37</c:v>
                </c:pt>
                <c:pt idx="1">
                  <c:v>4956.9399999999996</c:v>
                </c:pt>
              </c:numCache>
            </c:numRef>
          </c:val>
          <c:extLst>
            <c:ext xmlns:c16="http://schemas.microsoft.com/office/drawing/2014/chart" uri="{C3380CC4-5D6E-409C-BE32-E72D297353CC}">
              <c16:uniqueId val="{00000004-D5B5-464E-B30D-9FFB09E9D4A2}"/>
            </c:ext>
          </c:extLst>
        </c:ser>
        <c:ser>
          <c:idx val="1"/>
          <c:order val="1"/>
          <c:tx>
            <c:strRef>
              <c:f>'pivot table'!$C$3:$C$4</c:f>
              <c:strCache>
                <c:ptCount val="1"/>
                <c:pt idx="0">
                  <c:v>Instagram</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6-D5B5-464E-B30D-9FFB09E9D4A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8-D5B5-464E-B30D-9FFB09E9D4A2}"/>
              </c:ext>
            </c:extLst>
          </c:dPt>
          <c:cat>
            <c:strRef>
              <c:f>'pivot table'!$A$5:$A$7</c:f>
              <c:strCache>
                <c:ptCount val="2"/>
                <c:pt idx="0">
                  <c:v>A</c:v>
                </c:pt>
                <c:pt idx="1">
                  <c:v>B</c:v>
                </c:pt>
              </c:strCache>
            </c:strRef>
          </c:cat>
          <c:val>
            <c:numRef>
              <c:f>'pivot table'!$C$5:$C$7</c:f>
              <c:numCache>
                <c:formatCode>0</c:formatCode>
                <c:ptCount val="2"/>
                <c:pt idx="0">
                  <c:v>2162.9000000000005</c:v>
                </c:pt>
                <c:pt idx="1">
                  <c:v>1710.5100000000004</c:v>
                </c:pt>
              </c:numCache>
            </c:numRef>
          </c:val>
          <c:extLst>
            <c:ext xmlns:c16="http://schemas.microsoft.com/office/drawing/2014/chart" uri="{C3380CC4-5D6E-409C-BE32-E72D297353CC}">
              <c16:uniqueId val="{00000009-D5B5-464E-B30D-9FFB09E9D4A2}"/>
            </c:ext>
          </c:extLst>
        </c:ser>
        <c:ser>
          <c:idx val="2"/>
          <c:order val="2"/>
          <c:tx>
            <c:strRef>
              <c:f>'pivot table'!$D$3:$D$4</c:f>
              <c:strCache>
                <c:ptCount val="1"/>
                <c:pt idx="0">
                  <c:v>Web Banner</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B-D5B5-464E-B30D-9FFB09E9D4A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D-D5B5-464E-B30D-9FFB09E9D4A2}"/>
              </c:ext>
            </c:extLst>
          </c:dPt>
          <c:cat>
            <c:strRef>
              <c:f>'pivot table'!$A$5:$A$7</c:f>
              <c:strCache>
                <c:ptCount val="2"/>
                <c:pt idx="0">
                  <c:v>A</c:v>
                </c:pt>
                <c:pt idx="1">
                  <c:v>B</c:v>
                </c:pt>
              </c:strCache>
            </c:strRef>
          </c:cat>
          <c:val>
            <c:numRef>
              <c:f>'pivot table'!$D$5:$D$7</c:f>
              <c:numCache>
                <c:formatCode>0</c:formatCode>
                <c:ptCount val="2"/>
                <c:pt idx="0">
                  <c:v>754.29</c:v>
                </c:pt>
                <c:pt idx="1">
                  <c:v>2122.5899999999997</c:v>
                </c:pt>
              </c:numCache>
            </c:numRef>
          </c:val>
          <c:extLst>
            <c:ext xmlns:c16="http://schemas.microsoft.com/office/drawing/2014/chart" uri="{C3380CC4-5D6E-409C-BE32-E72D297353CC}">
              <c16:uniqueId val="{0000000E-D5B5-464E-B30D-9FFB09E9D4A2}"/>
            </c:ext>
          </c:extLst>
        </c:ser>
        <c:dLbls>
          <c:showLegendKey val="0"/>
          <c:showVal val="0"/>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11/4/2025</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11/4/2025</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4.jp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4.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84.xml"/><Relationship Id="rId7" Type="http://schemas.openxmlformats.org/officeDocument/2006/relationships/oleObject" Target="../embeddings/oleObject17.bin"/><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0.emf"/><Relationship Id="rId5" Type="http://schemas.openxmlformats.org/officeDocument/2006/relationships/oleObject" Target="../embeddings/oleObject16.bin"/><Relationship Id="rId10" Type="http://schemas.openxmlformats.org/officeDocument/2006/relationships/chart" Target="../charts/chart2.xml"/><Relationship Id="rId4" Type="http://schemas.openxmlformats.org/officeDocument/2006/relationships/slideLayout" Target="../slideLayouts/slideLayout2.xml"/><Relationship Id="rId9"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629400" y="676892"/>
            <a:ext cx="10933200" cy="387798"/>
          </a:xfrm>
        </p:spPr>
        <p:txBody>
          <a:bodyPr anchor="t"/>
          <a:lstStyle/>
          <a:p>
            <a:r>
              <a:rPr lang="en-US" sz="2800" dirty="0"/>
              <a:t>Pivot Chart</a:t>
            </a:r>
          </a:p>
        </p:txBody>
      </p:sp>
      <p:sp>
        <p:nvSpPr>
          <p:cNvPr id="2" name="Rectangle 1">
            <a:extLst>
              <a:ext uri="{FF2B5EF4-FFF2-40B4-BE49-F238E27FC236}">
                <a16:creationId xmlns:a16="http://schemas.microsoft.com/office/drawing/2014/main" id="{477E036F-AF50-32A5-AA87-4A97F3F6A88D}"/>
              </a:ext>
            </a:extLst>
          </p:cNvPr>
          <p:cNvSpPr/>
          <p:nvPr/>
        </p:nvSpPr>
        <p:spPr>
          <a:xfrm>
            <a:off x="641671" y="5371165"/>
            <a:ext cx="10933200" cy="957888"/>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dirty="0">
                <a:solidFill>
                  <a:srgbClr val="000000"/>
                </a:solidFill>
              </a:rPr>
              <a:t>Recommendation:</a:t>
            </a:r>
            <a:endParaRPr lang="en-US" sz="1200" dirty="0">
              <a:solidFill>
                <a:srgbClr val="000000"/>
              </a:solidFill>
            </a:endParaRPr>
          </a:p>
        </p:txBody>
      </p:sp>
      <p:sp>
        <p:nvSpPr>
          <p:cNvPr id="8" name="Rectangle 7">
            <a:extLst>
              <a:ext uri="{FF2B5EF4-FFF2-40B4-BE49-F238E27FC236}">
                <a16:creationId xmlns:a16="http://schemas.microsoft.com/office/drawing/2014/main" id="{942B0D30-68D6-1748-728E-7FA73A5976EC}"/>
              </a:ext>
            </a:extLst>
          </p:cNvPr>
          <p:cNvSpPr/>
          <p:nvPr/>
        </p:nvSpPr>
        <p:spPr>
          <a:xfrm>
            <a:off x="838228" y="1696609"/>
            <a:ext cx="2328814"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[channels bar chart]</a:t>
            </a:r>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E9B0969E-E6A1-262E-0D0C-27C4EB66645E}"/>
              </a:ext>
            </a:extLst>
          </p:cNvPr>
          <p:cNvSpPr/>
          <p:nvPr/>
        </p:nvSpPr>
        <p:spPr>
          <a:xfrm>
            <a:off x="695959" y="212497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1" name="Rectangle 50">
            <a:extLst>
              <a:ext uri="{FF2B5EF4-FFF2-40B4-BE49-F238E27FC236}">
                <a16:creationId xmlns:a16="http://schemas.microsoft.com/office/drawing/2014/main" id="{BF4368DF-6E20-14F0-6E67-1E1CD9E7A1F1}"/>
              </a:ext>
            </a:extLst>
          </p:cNvPr>
          <p:cNvSpPr/>
          <p:nvPr/>
        </p:nvSpPr>
        <p:spPr>
          <a:xfrm>
            <a:off x="4152757" y="216356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2" name="Rectangle 51">
            <a:extLst>
              <a:ext uri="{FF2B5EF4-FFF2-40B4-BE49-F238E27FC236}">
                <a16:creationId xmlns:a16="http://schemas.microsoft.com/office/drawing/2014/main" id="{E2B2A643-298F-D571-396A-2AD97701D1C3}"/>
              </a:ext>
            </a:extLst>
          </p:cNvPr>
          <p:cNvSpPr/>
          <p:nvPr/>
        </p:nvSpPr>
        <p:spPr>
          <a:xfrm>
            <a:off x="7476125" y="2155067"/>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3" name="Rectangle 52">
            <a:extLst>
              <a:ext uri="{FF2B5EF4-FFF2-40B4-BE49-F238E27FC236}">
                <a16:creationId xmlns:a16="http://schemas.microsoft.com/office/drawing/2014/main" id="{B52E5477-8A78-817E-6DEC-CF5CD1757B04}"/>
              </a:ext>
            </a:extLst>
          </p:cNvPr>
          <p:cNvSpPr/>
          <p:nvPr/>
        </p:nvSpPr>
        <p:spPr>
          <a:xfrm>
            <a:off x="4306799" y="1719502"/>
            <a:ext cx="2328814"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[campaign PIE CHART]</a:t>
            </a:r>
          </a:p>
        </p:txBody>
      </p:sp>
      <p:sp>
        <p:nvSpPr>
          <p:cNvPr id="54" name="Rectangle 53">
            <a:extLst>
              <a:ext uri="{FF2B5EF4-FFF2-40B4-BE49-F238E27FC236}">
                <a16:creationId xmlns:a16="http://schemas.microsoft.com/office/drawing/2014/main" id="{AC2F7AF7-DC76-6C1A-0458-2264EDF24BF9}"/>
              </a:ext>
            </a:extLst>
          </p:cNvPr>
          <p:cNvSpPr/>
          <p:nvPr/>
        </p:nvSpPr>
        <p:spPr>
          <a:xfrm>
            <a:off x="7622972" y="1715577"/>
            <a:ext cx="2328814"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[Chart Title/ Callout]</a:t>
            </a:r>
          </a:p>
        </p:txBody>
      </p:sp>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aphicFrame>
        <p:nvGraphicFramePr>
          <p:cNvPr id="7" name="Chart 6">
            <a:extLst>
              <a:ext uri="{FF2B5EF4-FFF2-40B4-BE49-F238E27FC236}">
                <a16:creationId xmlns:a16="http://schemas.microsoft.com/office/drawing/2014/main" id="{07CDC505-0067-A8D7-8C02-C09EE35FF896}"/>
              </a:ext>
            </a:extLst>
          </p:cNvPr>
          <p:cNvGraphicFramePr>
            <a:graphicFrameLocks/>
          </p:cNvGraphicFramePr>
          <p:nvPr>
            <p:extLst>
              <p:ext uri="{D42A27DB-BD31-4B8C-83A1-F6EECF244321}">
                <p14:modId xmlns:p14="http://schemas.microsoft.com/office/powerpoint/2010/main" val="707852582"/>
              </p:ext>
            </p:extLst>
          </p:nvPr>
        </p:nvGraphicFramePr>
        <p:xfrm>
          <a:off x="181522" y="2434223"/>
          <a:ext cx="3642226" cy="2383336"/>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10" name="Chart 9">
            <a:extLst>
              <a:ext uri="{FF2B5EF4-FFF2-40B4-BE49-F238E27FC236}">
                <a16:creationId xmlns:a16="http://schemas.microsoft.com/office/drawing/2014/main" id="{3E65B252-5284-1085-52A0-E5C22AB00EEC}"/>
              </a:ext>
            </a:extLst>
          </p:cNvPr>
          <p:cNvGraphicFramePr>
            <a:graphicFrameLocks/>
          </p:cNvGraphicFramePr>
          <p:nvPr>
            <p:extLst>
              <p:ext uri="{D42A27DB-BD31-4B8C-83A1-F6EECF244321}">
                <p14:modId xmlns:p14="http://schemas.microsoft.com/office/powerpoint/2010/main" val="2107581527"/>
              </p:ext>
            </p:extLst>
          </p:nvPr>
        </p:nvGraphicFramePr>
        <p:xfrm>
          <a:off x="4152757" y="2163569"/>
          <a:ext cx="2960370" cy="2293620"/>
        </p:xfrm>
        <a:graphic>
          <a:graphicData uri="http://schemas.openxmlformats.org/drawingml/2006/chart">
            <c:chart xmlns:c="http://schemas.openxmlformats.org/drawingml/2006/chart" xmlns:r="http://schemas.openxmlformats.org/officeDocument/2006/relationships" r:id="rId10"/>
          </a:graphicData>
        </a:graphic>
      </p:graphicFrame>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3.xml><?xml version="1.0" encoding="utf-8"?>
<ds:datastoreItem xmlns:ds="http://schemas.openxmlformats.org/officeDocument/2006/customXml" ds:itemID="{F0D9CDD6-302A-4910-894A-79BA7510E5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BCG Grid 16:9</Template>
  <TotalTime>114</TotalTime>
  <Words>28</Words>
  <Application>Microsoft Office PowerPoint</Application>
  <PresentationFormat>Widescreen</PresentationFormat>
  <Paragraphs>6</Paragraphs>
  <Slides>1</Slides>
  <Notes>0</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vt:i4>
      </vt:variant>
      <vt:variant>
        <vt:lpstr>Custom Shows</vt:lpstr>
      </vt:variant>
      <vt:variant>
        <vt:i4>1</vt:i4>
      </vt:variant>
    </vt:vector>
  </HeadingPairs>
  <TitlesOfParts>
    <vt:vector size="6" baseType="lpstr">
      <vt:lpstr>Arial</vt:lpstr>
      <vt:lpstr>Trebuchet MS</vt:lpstr>
      <vt:lpstr>BCG Grid 16:9</vt:lpstr>
      <vt:lpstr>think-cell Slide</vt:lpstr>
      <vt:lpstr>Pivot Chart</vt:lpstr>
      <vt:lpstr>Format Guide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Scobee, Kyle</dc:creator>
  <cp:lastModifiedBy>sagar vadapalli</cp:lastModifiedBy>
  <cp:revision>9</cp:revision>
  <cp:lastPrinted>2016-04-06T18:59:25Z</cp:lastPrinted>
  <dcterms:created xsi:type="dcterms:W3CDTF">2025-04-28T17:07:03Z</dcterms:created>
  <dcterms:modified xsi:type="dcterms:W3CDTF">2025-11-04T22:37:26Z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